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8" r:id="rId5"/>
    <p:sldId id="260" r:id="rId6"/>
    <p:sldId id="261" r:id="rId7"/>
    <p:sldId id="262" r:id="rId8"/>
    <p:sldId id="273" r:id="rId9"/>
    <p:sldId id="263" r:id="rId10"/>
    <p:sldId id="274" r:id="rId11"/>
    <p:sldId id="264" r:id="rId12"/>
    <p:sldId id="275" r:id="rId13"/>
    <p:sldId id="265" r:id="rId14"/>
    <p:sldId id="276" r:id="rId15"/>
    <p:sldId id="266" r:id="rId16"/>
    <p:sldId id="277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-296" y="-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8"/>
          </a:solidFill>
          <a:ln>
            <a:solidFill>
              <a:srgbClr val="101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685800"/>
            <a:ext cx="91440" cy="5303520"/>
          </a:xfrm>
          <a:prstGeom prst="rect">
            <a:avLst/>
          </a:prstGeom>
          <a:solidFill>
            <a:srgbClr val="3FAABE"/>
          </a:solidFill>
          <a:ln>
            <a:solidFill>
              <a:srgbClr val="3F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8FAFC"/>
                </a:solidFill>
                <a:latin typeface="Aptos"/>
              </a:defRPr>
            </a:pPr>
            <a:r>
              <a:t>CRM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00200"/>
            <a:ext cx="80467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500" b="1">
                <a:solidFill>
                  <a:srgbClr val="F8FAFC"/>
                </a:solidFill>
                <a:latin typeface="Aptos"/>
              </a:defRPr>
            </a:pPr>
            <a:r>
              <a:t>CUSTOMER &amp; LEAD</a:t>
            </a:r>
            <a:br/>
            <a:r>
              <a:t>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1546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ECDDC"/>
                </a:solidFill>
                <a:latin typeface="Aptos"/>
              </a:defRPr>
            </a:pPr>
            <a:r>
              <a:t>Full-Stack Web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FAABE"/>
                </a:solidFill>
                <a:latin typeface="Aptos"/>
              </a:defRPr>
            </a:pPr>
            <a:r>
              <a:t>Python • Flask • HTML • CSS • JavaScript • SQLite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074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ECDDC"/>
                </a:solidFill>
                <a:latin typeface="Aptos"/>
              </a:defRPr>
            </a:pPr>
            <a:r>
              <a:t>SKYBRISK — MONTH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88720" y="320040"/>
            <a:ext cx="10332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defRPr sz="2800" b="1">
                <a:solidFill>
                  <a:srgbClr val="232B37"/>
                </a:solidFill>
                <a:latin typeface="Aptos"/>
              </a:defRPr>
            </a:pPr>
            <a:r>
              <a:rPr dirty="0"/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841248"/>
            <a:ext cx="10241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defRPr sz="1200" b="0">
                <a:solidFill>
                  <a:srgbClr val="697482"/>
                </a:solidFill>
                <a:latin typeface="Aptos"/>
              </a:defRPr>
            </a:pPr>
            <a:r>
              <a:rPr dirty="0"/>
              <a:t>Purpose and expected outcome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2D5FAA"/>
                </a:solidFill>
                <a:latin typeface="Aptos"/>
              </a:defRPr>
            </a:pPr>
            <a:r>
              <a:t>A practical CRM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5486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32B37"/>
                </a:solidFill>
                <a:latin typeface="Aptos"/>
              </a:defRPr>
            </a:pPr>
            <a:r>
              <a:rPr dirty="0"/>
              <a:t>Manage customer records from one interface.</a:t>
            </a:r>
          </a:p>
          <a:p>
            <a:pPr>
              <a:spcAft>
                <a:spcPts val="900"/>
              </a:spcAft>
              <a:defRPr sz="1900">
                <a:solidFill>
                  <a:srgbClr val="232B37"/>
                </a:solidFill>
                <a:latin typeface="Aptos"/>
              </a:defRPr>
            </a:pPr>
            <a:r>
              <a:rPr dirty="0"/>
              <a:t>Create, view, update and delete sales leads.</a:t>
            </a:r>
          </a:p>
          <a:p>
            <a:pPr>
              <a:spcAft>
                <a:spcPts val="900"/>
              </a:spcAft>
              <a:defRPr sz="1900">
                <a:solidFill>
                  <a:srgbClr val="232B37"/>
                </a:solidFill>
                <a:latin typeface="Aptos"/>
              </a:defRPr>
            </a:pPr>
            <a:r>
              <a:rPr dirty="0"/>
              <a:t>Track lead status and customer/lead interactions.</a:t>
            </a:r>
          </a:p>
          <a:p>
            <a:pPr>
              <a:spcAft>
                <a:spcPts val="900"/>
              </a:spcAft>
              <a:defRPr sz="1900">
                <a:solidFill>
                  <a:srgbClr val="232B37"/>
                </a:solidFill>
                <a:latin typeface="Aptos"/>
              </a:defRPr>
            </a:pPr>
            <a:r>
              <a:rPr dirty="0"/>
              <a:t>Provide a dashboard for quick CRM visibility.</a:t>
            </a:r>
          </a:p>
          <a:p>
            <a:pPr>
              <a:spcAft>
                <a:spcPts val="900"/>
              </a:spcAft>
              <a:defRPr sz="1900">
                <a:solidFill>
                  <a:srgbClr val="232B37"/>
                </a:solidFill>
                <a:latin typeface="Aptos"/>
              </a:defRPr>
            </a:pPr>
            <a:r>
              <a:rPr dirty="0"/>
              <a:t>Keep application data in a lightweight SQLite database.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1417320"/>
            <a:ext cx="3840480" cy="4160520"/>
          </a:xfrm>
          <a:prstGeom prst="rect">
            <a:avLst/>
          </a:prstGeom>
          <a:solidFill>
            <a:srgbClr val="EEF4FA"/>
          </a:solidFill>
          <a:ln>
            <a:solidFill>
              <a:srgbClr val="EE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0" y="1828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5FAA"/>
                </a:solidFill>
                <a:latin typeface="Aptos"/>
              </a:defRPr>
            </a:pPr>
            <a:r>
              <a:t>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331720"/>
            <a:ext cx="31089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232B37"/>
                </a:solidFill>
                <a:latin typeface="Aptos"/>
              </a:defRPr>
            </a:pPr>
            <a:r>
              <a:t>Customers</a:t>
            </a:r>
            <a:br/>
            <a:r>
              <a:t>+</a:t>
            </a:r>
            <a:br/>
            <a:r>
              <a:t>Leads</a:t>
            </a:r>
            <a:br/>
            <a:r>
              <a:t>+</a:t>
            </a:r>
            <a:br/>
            <a:r>
              <a:t>Interactions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4983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97482"/>
                </a:solidFill>
                <a:latin typeface="Aptos"/>
              </a:defRPr>
            </a:pPr>
            <a:r>
              <a:t>One workflow for day-to-day CRM operations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67" y="0"/>
            <a:ext cx="12191695" cy="6858000"/>
          </a:xfrm>
          <a:prstGeom prst="rect">
            <a:avLst/>
          </a:prstGeom>
          <a:solidFill>
            <a:srgbClr val="101828"/>
          </a:solidFill>
          <a:ln>
            <a:solidFill>
              <a:srgbClr val="101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320040"/>
            <a:ext cx="10332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defRPr sz="2800" b="1">
                <a:solidFill>
                  <a:srgbClr val="F8FAFC"/>
                </a:solidFill>
                <a:latin typeface="Aptos"/>
              </a:defRPr>
            </a:pPr>
            <a:r>
              <a:rPr dirty="0"/>
              <a:t>Functional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841248"/>
            <a:ext cx="10241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defRPr sz="1200" b="0">
                <a:solidFill>
                  <a:srgbClr val="B9C3CF"/>
                </a:solidFill>
                <a:latin typeface="Aptos"/>
              </a:defRPr>
            </a:pPr>
            <a:r>
              <a:rPr dirty="0"/>
              <a:t>What the application is designed to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FAABE"/>
                </a:solidFill>
                <a:latin typeface="Aptos"/>
              </a:defRPr>
            </a:pPr>
            <a:r>
              <a:t>AUTHENTICATION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47672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8FAFC"/>
                </a:solidFill>
                <a:latin typeface="Aptos"/>
              </a:defRPr>
            </a:pPr>
            <a:r>
              <a:t>Sign Up • Login • 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5087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FAABE"/>
                </a:solidFill>
                <a:latin typeface="Aptos"/>
              </a:defRPr>
            </a:pPr>
            <a:r>
              <a:t>CUSTOMERS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947672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8FAFC"/>
                </a:solidFill>
                <a:latin typeface="Aptos"/>
              </a:defRPr>
            </a:pPr>
            <a:r>
              <a:t>Create • View • Update • Delete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5087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FAABE"/>
                </a:solidFill>
                <a:latin typeface="Aptos"/>
              </a:defRPr>
            </a:pPr>
            <a:r>
              <a:t>LEADS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947672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8FAFC"/>
                </a:solidFill>
                <a:latin typeface="Aptos"/>
              </a:defRPr>
            </a:pPr>
            <a:r>
              <a:t>Create • Track • Update •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576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FAABE"/>
                </a:solidFill>
                <a:latin typeface="Aptos"/>
              </a:defRPr>
            </a:pPr>
            <a:r>
              <a:t>INTERACTIONS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96512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8FAFC"/>
                </a:solidFill>
                <a:latin typeface="Aptos"/>
              </a:defRPr>
            </a:pPr>
            <a:r>
              <a:t>Record and review activity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6576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FAABE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096512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8FAFC"/>
                </a:solidFill>
                <a:latin typeface="Aptos"/>
              </a:defRPr>
            </a:pPr>
            <a:r>
              <a:t>Summary and CRM visibility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6576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FAABE"/>
                </a:solidFill>
                <a:latin typeface="Aptos"/>
              </a:defRPr>
            </a:pPr>
            <a:r>
              <a:t>EXPORT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4096512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8FAFC"/>
                </a:solidFill>
                <a:latin typeface="Aptos"/>
              </a:defRPr>
            </a:pPr>
            <a:r>
              <a:t>Download CRM data as CSV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159087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914400" lvl="4">
              <a:defRPr sz="2800" b="1">
                <a:solidFill>
                  <a:srgbClr val="19233A"/>
                </a:solidFill>
                <a:latin typeface="Aptos Display"/>
              </a:defRPr>
            </a:pPr>
            <a:r>
              <a:rPr lang="en-US" dirty="0" smtClean="0"/>
              <a:t>Technology </a:t>
            </a:r>
            <a:r>
              <a:rPr lang="en-US" dirty="0"/>
              <a:t>Stack</a:t>
            </a:r>
          </a:p>
          <a:p>
            <a:pPr>
              <a:defRPr sz="2800" b="1">
                <a:solidFill>
                  <a:srgbClr val="19233A"/>
                </a:solidFill>
                <a:latin typeface="Aptos Display"/>
              </a:defRPr>
            </a:pP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21792" y="941832"/>
            <a:ext cx="3907736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2">
              <a:defRPr sz="1300">
                <a:solidFill>
                  <a:srgbClr val="64748B"/>
                </a:solidFill>
              </a:defRPr>
            </a:pPr>
            <a:r>
              <a:rPr lang="en-US" dirty="0" smtClean="0"/>
              <a:t>Technologies used in the implementation</a:t>
            </a:r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73152" cy="1828800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27632"/>
            <a:ext cx="788999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33A"/>
                </a:solidFill>
                <a:latin typeface="Aptos Display"/>
              </a:defRPr>
            </a:pPr>
            <a:r>
              <a:rPr lang="en-US" dirty="0" smtClean="0"/>
              <a:t>HTML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60120" y="2084832"/>
            <a:ext cx="1258678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rPr lang="en-US" dirty="0" smtClean="0"/>
              <a:t>Page Structure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463040"/>
            <a:ext cx="73152" cy="1828800"/>
          </a:xfrm>
          <a:prstGeom prst="rect">
            <a:avLst/>
          </a:prstGeom>
          <a:solidFill>
            <a:srgbClr val="24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1627632"/>
            <a:ext cx="633507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33A"/>
                </a:solidFill>
                <a:latin typeface="Aptos Display"/>
              </a:defRPr>
            </a:pPr>
            <a:r>
              <a:rPr lang="en-US" dirty="0" smtClean="0"/>
              <a:t>CSS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4617720" y="2084832"/>
            <a:ext cx="1596912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rPr lang="en-US" dirty="0" smtClean="0"/>
              <a:t>Responsive Styling</a:t>
            </a:r>
            <a:r>
              <a:rPr dirty="0" smtClean="0"/>
              <a:t>.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8046720" y="146304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463040"/>
            <a:ext cx="73152" cy="1828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20" y="1627632"/>
            <a:ext cx="1290738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33A"/>
                </a:solidFill>
                <a:latin typeface="Aptos Display"/>
              </a:defRPr>
            </a:pPr>
            <a:r>
              <a:rPr lang="en-US" dirty="0" smtClean="0"/>
              <a:t>JavaScript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8275320" y="2084832"/>
            <a:ext cx="1730730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rPr lang="en-US" dirty="0" smtClean="0"/>
              <a:t>Client-side </a:t>
            </a:r>
            <a:r>
              <a:rPr lang="en-US" dirty="0" err="1"/>
              <a:t>b</a:t>
            </a:r>
            <a:r>
              <a:rPr lang="en-US" dirty="0" err="1" smtClean="0"/>
              <a:t>ehaviour</a:t>
            </a:r>
            <a:r>
              <a:rPr lang="en-US" dirty="0" smtClean="0"/>
              <a:t>.</a:t>
            </a:r>
            <a:endParaRPr dirty="0"/>
          </a:p>
        </p:txBody>
      </p:sp>
      <p:sp>
        <p:nvSpPr>
          <p:cNvPr id="17" name="Rounded Rectangle 16"/>
          <p:cNvSpPr/>
          <p:nvPr/>
        </p:nvSpPr>
        <p:spPr>
          <a:xfrm>
            <a:off x="731520" y="365760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3657600"/>
            <a:ext cx="73152" cy="1828800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3822191"/>
            <a:ext cx="923651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33A"/>
                </a:solidFill>
                <a:latin typeface="Aptos Display"/>
              </a:defRPr>
            </a:pPr>
            <a:r>
              <a:rPr lang="en-US" dirty="0" smtClean="0"/>
              <a:t>Python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960120" y="4279392"/>
            <a:ext cx="1619354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rPr lang="en-US" dirty="0" smtClean="0"/>
              <a:t>Backend Language</a:t>
            </a:r>
            <a:endParaRPr dirty="0"/>
          </a:p>
        </p:txBody>
      </p:sp>
      <p:sp>
        <p:nvSpPr>
          <p:cNvPr id="21" name="Rounded Rectangle 20"/>
          <p:cNvSpPr/>
          <p:nvPr/>
        </p:nvSpPr>
        <p:spPr>
          <a:xfrm>
            <a:off x="4389120" y="365760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89120" y="3657600"/>
            <a:ext cx="73152" cy="1828800"/>
          </a:xfrm>
          <a:prstGeom prst="rect">
            <a:avLst/>
          </a:prstGeom>
          <a:solidFill>
            <a:srgbClr val="248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17720" y="3822191"/>
            <a:ext cx="744114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33A"/>
                </a:solidFill>
                <a:latin typeface="Aptos Display"/>
              </a:defRPr>
            </a:pPr>
            <a:r>
              <a:rPr lang="en-US" dirty="0" smtClean="0"/>
              <a:t>Flask</a:t>
            </a: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4617720" y="4279392"/>
            <a:ext cx="1305486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rPr lang="en-US" dirty="0" smtClean="0"/>
              <a:t>Web framework</a:t>
            </a:r>
            <a:endParaRPr dirty="0"/>
          </a:p>
        </p:txBody>
      </p:sp>
      <p:sp>
        <p:nvSpPr>
          <p:cNvPr id="25" name="Rounded Rectangle 24"/>
          <p:cNvSpPr/>
          <p:nvPr/>
        </p:nvSpPr>
        <p:spPr>
          <a:xfrm>
            <a:off x="8046720" y="365760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46720" y="3657600"/>
            <a:ext cx="73152" cy="1828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75320" y="3822191"/>
            <a:ext cx="888385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33A"/>
                </a:solidFill>
                <a:latin typeface="Aptos Display"/>
              </a:defRPr>
            </a:pPr>
            <a:r>
              <a:rPr lang="en-US" dirty="0" smtClean="0"/>
              <a:t>SQLite</a:t>
            </a:r>
            <a:endParaRPr dirty="0"/>
          </a:p>
        </p:txBody>
      </p:sp>
      <p:sp>
        <p:nvSpPr>
          <p:cNvPr id="28" name="TextBox 27"/>
          <p:cNvSpPr txBox="1"/>
          <p:nvPr/>
        </p:nvSpPr>
        <p:spPr>
          <a:xfrm>
            <a:off x="8275320" y="4279392"/>
            <a:ext cx="1178528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Aptos"/>
              </a:defRPr>
            </a:pPr>
            <a:r>
              <a:rPr lang="en-US" dirty="0" smtClean="0"/>
              <a:t>Data Storage.</a:t>
            </a:r>
            <a:endParaRPr dirty="0"/>
          </a:p>
        </p:txBody>
      </p:sp>
      <p:sp>
        <p:nvSpPr>
          <p:cNvPr id="29" name="TextBox 28"/>
          <p:cNvSpPr txBox="1"/>
          <p:nvPr/>
        </p:nvSpPr>
        <p:spPr>
          <a:xfrm>
            <a:off x="10881360" y="651967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959605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320040"/>
            <a:ext cx="10332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defRPr sz="2800" b="1">
                <a:solidFill>
                  <a:srgbClr val="232B37"/>
                </a:solidFill>
                <a:latin typeface="Aptos"/>
              </a:defRPr>
            </a:pPr>
            <a:r>
              <a:rPr dirty="0"/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841248"/>
            <a:ext cx="10241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defRPr sz="1200" b="0">
                <a:solidFill>
                  <a:srgbClr val="697482"/>
                </a:solidFill>
                <a:latin typeface="Aptos"/>
              </a:defRPr>
            </a:pPr>
            <a:r>
              <a:rPr dirty="0"/>
              <a:t>End-to-end application 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57400"/>
            <a:ext cx="1874519" cy="1417320"/>
          </a:xfrm>
          <a:prstGeom prst="rect">
            <a:avLst/>
          </a:prstGeom>
          <a:solidFill>
            <a:srgbClr val="EEF4FA"/>
          </a:solidFill>
          <a:ln>
            <a:solidFill>
              <a:srgbClr val="EE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39572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D5FAA"/>
                </a:solidFill>
                <a:latin typeface="Aptos"/>
              </a:defRPr>
            </a:pPr>
            <a:r>
              <a:t>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7889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97482"/>
                </a:solidFill>
                <a:latin typeface="Aptos"/>
              </a:defRPr>
            </a:pPr>
            <a:r>
              <a:t>Browser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32888" y="248716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FAA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80360" y="2057400"/>
            <a:ext cx="1874519" cy="1417320"/>
          </a:xfrm>
          <a:prstGeom prst="rect">
            <a:avLst/>
          </a:prstGeom>
          <a:solidFill>
            <a:srgbClr val="EEF4FA"/>
          </a:solidFill>
          <a:ln>
            <a:solidFill>
              <a:srgbClr val="EE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17520" y="239572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D5FAA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0088" y="27889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97482"/>
                </a:solidFill>
                <a:latin typeface="Aptos"/>
              </a:defRPr>
            </a:pPr>
            <a:r>
              <a:t>HTML • CSS • 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8888" y="248716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FAA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66360" y="2057400"/>
            <a:ext cx="1874519" cy="1417320"/>
          </a:xfrm>
          <a:prstGeom prst="rect">
            <a:avLst/>
          </a:prstGeom>
          <a:solidFill>
            <a:srgbClr val="EEF4FA"/>
          </a:solidFill>
          <a:ln>
            <a:solidFill>
              <a:srgbClr val="EE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03520" y="239572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D5FAA"/>
                </a:solidFill>
                <a:latin typeface="Aptos"/>
              </a:defRPr>
            </a:pPr>
            <a:r>
              <a:t>FLASK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76088" y="27889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97482"/>
                </a:solidFill>
                <a:latin typeface="Aptos"/>
              </a:defRPr>
            </a:pPr>
            <a:r>
              <a:t>Routes &amp; Logic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04888" y="248716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FAA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52360" y="2057400"/>
            <a:ext cx="1874519" cy="1417320"/>
          </a:xfrm>
          <a:prstGeom prst="rect">
            <a:avLst/>
          </a:prstGeom>
          <a:solidFill>
            <a:srgbClr val="EEF4FA"/>
          </a:solidFill>
          <a:ln>
            <a:solidFill>
              <a:srgbClr val="EE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20" y="239572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D5FAA"/>
                </a:solidFill>
                <a:latin typeface="Aptos"/>
              </a:defRPr>
            </a:pPr>
            <a:r>
              <a:t>SQLITE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62088" y="27889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97482"/>
                </a:solidFill>
                <a:latin typeface="Aptos"/>
              </a:defRPr>
            </a:pPr>
            <a:r>
              <a:t>Persistent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90888" y="248716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FAA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738360" y="2057400"/>
            <a:ext cx="1874519" cy="1417320"/>
          </a:xfrm>
          <a:prstGeom prst="rect">
            <a:avLst/>
          </a:prstGeom>
          <a:solidFill>
            <a:srgbClr val="EEF4FA"/>
          </a:solidFill>
          <a:ln>
            <a:solidFill>
              <a:srgbClr val="EE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75520" y="239572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D5FAA"/>
                </a:solidFill>
                <a:latin typeface="Aptos"/>
              </a:defRPr>
            </a:pPr>
            <a:r>
              <a:t>CRM UI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48088" y="27889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97482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709160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32B37"/>
                </a:solidFill>
                <a:latin typeface="Aptos"/>
              </a:defRPr>
            </a:pPr>
            <a:r>
              <a:t>User → Web Interface → Flask Backend → SQLite → CRM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021" y="8021"/>
            <a:ext cx="12191695" cy="6858000"/>
          </a:xfrm>
          <a:prstGeom prst="rect">
            <a:avLst/>
          </a:prstGeom>
          <a:solidFill>
            <a:srgbClr val="101828"/>
          </a:solidFill>
          <a:ln>
            <a:solidFill>
              <a:srgbClr val="101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320040"/>
            <a:ext cx="10332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defRPr sz="2800" b="1">
                <a:solidFill>
                  <a:srgbClr val="F8FAFC"/>
                </a:solidFill>
                <a:latin typeface="Aptos"/>
              </a:defRPr>
            </a:pPr>
            <a:r>
              <a:rPr dirty="0"/>
              <a:t>Authentication Module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841248"/>
            <a:ext cx="10241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defRPr sz="1200" b="0">
                <a:solidFill>
                  <a:srgbClr val="B9C3CF"/>
                </a:solidFill>
                <a:latin typeface="Aptos"/>
              </a:defRPr>
            </a:pPr>
            <a:r>
              <a:rPr dirty="0"/>
              <a:t>Secure entry point to the CRM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3FAAB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4813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FAFC"/>
                </a:solidFill>
                <a:latin typeface="Aptos"/>
              </a:defRPr>
            </a:pPr>
            <a:r>
              <a:t>SIGN 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90195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ECDDC"/>
                </a:solidFill>
                <a:latin typeface="Aptos"/>
              </a:defRPr>
            </a:pPr>
            <a:r>
              <a:t>Create a user account with required credentials.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8892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3FAAB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7614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FAFC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182112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ECDDC"/>
                </a:solidFill>
                <a:latin typeface="Aptos"/>
              </a:defRPr>
            </a:pPr>
            <a:r>
              <a:t>Validate credentials and establish an authenticated session.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6052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3FAAB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133087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FAFC"/>
                </a:solidFill>
                <a:latin typeface="Aptos"/>
              </a:defRPr>
            </a:pPr>
            <a:r>
              <a:t>CRM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553712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ECDDC"/>
                </a:solidFill>
                <a:latin typeface="Aptos"/>
              </a:defRPr>
            </a:pPr>
            <a:r>
              <a:t>Authenticated users continue to the CRM dashboard and modules.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320040"/>
            <a:ext cx="10332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defRPr sz="2800" b="1">
                <a:solidFill>
                  <a:srgbClr val="232B37"/>
                </a:solidFill>
                <a:latin typeface="Aptos"/>
              </a:defRPr>
            </a:pPr>
            <a:r>
              <a:rPr dirty="0"/>
              <a:t>Customer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841248"/>
            <a:ext cx="10241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defRPr sz="1200" b="0">
                <a:solidFill>
                  <a:srgbClr val="697482"/>
                </a:solidFill>
                <a:latin typeface="Aptos"/>
              </a:defRPr>
            </a:pPr>
            <a:r>
              <a:rPr dirty="0"/>
              <a:t>Maintain a central customer record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5FAA"/>
                </a:solidFill>
                <a:latin typeface="Aptos"/>
              </a:defRPr>
            </a:pPr>
            <a:r>
              <a:t>CUSTOMER RECORD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232B37"/>
                </a:solidFill>
                <a:latin typeface="Aptos"/>
              </a:defRPr>
            </a:pPr>
            <a:r>
              <a:t>Create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87168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97482"/>
                </a:solidFill>
                <a:latin typeface="Aptos"/>
              </a:defRPr>
            </a:pPr>
            <a:r>
              <a:t>Add a new customer with relevant details.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20116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232B37"/>
                </a:solidFill>
                <a:latin typeface="Aptos"/>
              </a:defRPr>
            </a:pPr>
            <a:r>
              <a:t>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487168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97482"/>
                </a:solidFill>
                <a:latin typeface="Aptos"/>
              </a:defRPr>
            </a:pPr>
            <a:r>
              <a:t>Review stored customer information.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033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232B37"/>
                </a:solidFill>
                <a:latin typeface="Aptos"/>
              </a:defRPr>
            </a:pPr>
            <a:r>
              <a:t>Update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178808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97482"/>
                </a:solidFill>
                <a:latin typeface="Aptos"/>
              </a:defRPr>
            </a:pPr>
            <a:r>
              <a:t>Modify customer details when information changes.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37033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232B37"/>
                </a:solidFill>
                <a:latin typeface="Aptos"/>
              </a:defRPr>
            </a:pPr>
            <a:r>
              <a:t>Delete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4178808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97482"/>
                </a:solidFill>
                <a:latin typeface="Aptos"/>
              </a:defRPr>
            </a:pPr>
            <a:r>
              <a:t>Remove records when they are no longer required.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789" y="584200"/>
            <a:ext cx="10384144" cy="5748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183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8"/>
          </a:solidFill>
          <a:ln>
            <a:solidFill>
              <a:srgbClr val="101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320040"/>
            <a:ext cx="10332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defRPr sz="2800" b="1">
                <a:solidFill>
                  <a:srgbClr val="F8FAFC"/>
                </a:solidFill>
                <a:latin typeface="Aptos"/>
              </a:defRPr>
            </a:pPr>
            <a:r>
              <a:rPr dirty="0"/>
              <a:t>Lead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841248"/>
            <a:ext cx="10241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defRPr sz="1200" b="0">
                <a:solidFill>
                  <a:srgbClr val="B9C3CF"/>
                </a:solidFill>
                <a:latin typeface="Aptos"/>
              </a:defRPr>
            </a:pPr>
            <a:r>
              <a:rPr dirty="0"/>
              <a:t>Track prospects through the sales 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FAABE"/>
                </a:solidFill>
                <a:latin typeface="Aptos"/>
              </a:defRPr>
            </a:pPr>
            <a:r>
              <a:t>LEAD LIFECYCLE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  <a:latin typeface="Aptos"/>
              </a:defRPr>
            </a:pPr>
            <a:r>
              <a:t>NEW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33472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DDC"/>
                </a:solidFill>
                <a:latin typeface="Aptos"/>
              </a:defRPr>
            </a:pPr>
            <a:r>
              <a:t>Lead created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21284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FAA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148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  <a:latin typeface="Aptos"/>
              </a:defRPr>
            </a:pPr>
            <a:r>
              <a:t>CONTACTED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633472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DDC"/>
                </a:solidFill>
                <a:latin typeface="Aptos"/>
              </a:defRPr>
            </a:pPr>
            <a:r>
              <a:t>Initial communication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79" y="221284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FAA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79" y="2148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  <a:latin typeface="Aptos"/>
              </a:defRPr>
            </a:pPr>
            <a:r>
              <a:t>QUALIFIED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79" y="2633472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DDC"/>
                </a:solidFill>
                <a:latin typeface="Aptos"/>
              </a:defRPr>
            </a:pPr>
            <a:r>
              <a:t>Potential opportunity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21284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FAA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3999" y="2148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  <a:latin typeface="Aptos"/>
              </a:defRPr>
            </a:pPr>
            <a:r>
              <a:t>CLOSED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3999" y="2633472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ECDDC"/>
                </a:solidFill>
                <a:latin typeface="Aptos"/>
              </a:defRPr>
            </a:pPr>
            <a:r>
              <a:t>Outcome recorded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8862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FAABE"/>
                </a:solidFill>
                <a:latin typeface="Aptos"/>
              </a:defRPr>
            </a:pPr>
            <a:r>
              <a:t>Key 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34340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Create and update lead records</a:t>
            </a:r>
          </a:p>
          <a:p>
            <a:pPr>
              <a:spcAft>
                <a:spcPts val="7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Track status changes</a:t>
            </a:r>
          </a:p>
          <a:p>
            <a:pPr>
              <a:spcAft>
                <a:spcPts val="7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Search/filter leads for easier follow-up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414883"/>
            <a:ext cx="10591800" cy="5907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4314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320040"/>
            <a:ext cx="10332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defRPr sz="2800" b="1">
                <a:solidFill>
                  <a:srgbClr val="232B37"/>
                </a:solidFill>
                <a:latin typeface="Aptos"/>
              </a:defRPr>
            </a:pPr>
            <a:r>
              <a:rPr dirty="0"/>
              <a:t>Interaction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841248"/>
            <a:ext cx="10241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defRPr sz="1200" b="0">
                <a:solidFill>
                  <a:srgbClr val="697482"/>
                </a:solidFill>
                <a:latin typeface="Aptos"/>
              </a:defRPr>
            </a:pPr>
            <a:r>
              <a:rPr dirty="0"/>
              <a:t>Keep a history of customer and lead activity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5FAA"/>
                </a:solidFill>
                <a:latin typeface="Aptos"/>
              </a:defRPr>
            </a:pPr>
            <a:r>
              <a:t>INTERACTION HISTORY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5FA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57400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32B37"/>
                </a:solidFill>
                <a:latin typeface="Aptos"/>
              </a:defRPr>
            </a:pPr>
            <a:r>
              <a:t>Record an interaction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00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5FA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32B37"/>
                </a:solidFill>
                <a:latin typeface="Aptos"/>
              </a:defRPr>
            </a:pPr>
            <a:r>
              <a:t>Associate it with the relevant CRM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43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5FA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343400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32B37"/>
                </a:solidFill>
                <a:latin typeface="Aptos"/>
              </a:defRPr>
            </a:pPr>
            <a:r>
              <a:t>Review activity later for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15087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5FAA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20574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32B37"/>
                </a:solidFill>
                <a:latin typeface="Aptos"/>
              </a:defRPr>
            </a:pPr>
            <a:r>
              <a:t>A consistent activity trail makes customer and lead follow-up easier.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5" y="524933"/>
            <a:ext cx="10769601" cy="579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0747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8"/>
          </a:solidFill>
          <a:ln>
            <a:solidFill>
              <a:srgbClr val="101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320040"/>
            <a:ext cx="10332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defRPr sz="2800" b="1">
                <a:solidFill>
                  <a:srgbClr val="F8FAFC"/>
                </a:solidFill>
                <a:latin typeface="Aptos"/>
              </a:defRPr>
            </a:pPr>
            <a:r>
              <a:rPr dirty="0"/>
              <a:t>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841248"/>
            <a:ext cx="10241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defRPr sz="1200" b="0">
                <a:solidFill>
                  <a:srgbClr val="B9C3CF"/>
                </a:solidFill>
                <a:latin typeface="Aptos"/>
              </a:defRPr>
            </a:pPr>
            <a:r>
              <a:rPr dirty="0"/>
              <a:t>Quick view of CRM activity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FAABE"/>
                </a:solidFill>
                <a:latin typeface="Aptos"/>
              </a:defRPr>
            </a:pPr>
            <a:r>
              <a:t>CUSTOMERS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9339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8FAFC"/>
                </a:solidFill>
                <a:latin typeface="Aptos"/>
              </a:defRPr>
            </a:pPr>
            <a:r>
              <a:t>Lead &amp; customer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554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FAABE"/>
                </a:solidFill>
                <a:latin typeface="Aptos"/>
              </a:defRPr>
            </a:pPr>
            <a:r>
              <a:t>LEADS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99339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8FAFC"/>
                </a:solidFill>
                <a:latin typeface="Aptos"/>
              </a:defRPr>
            </a:pPr>
            <a:r>
              <a:t>Pipeline visibility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1554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FAABE"/>
                </a:solidFill>
                <a:latin typeface="Aptos"/>
              </a:defRPr>
            </a:pPr>
            <a:r>
              <a:t>ACTIVITY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199339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8FAFC"/>
                </a:solidFill>
                <a:latin typeface="Aptos"/>
              </a:defRPr>
            </a:pPr>
            <a:r>
              <a:t>Interaction tracking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94760"/>
            <a:ext cx="9692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F8FAFC"/>
                </a:solidFill>
                <a:latin typeface="Aptos"/>
              </a:defRPr>
            </a:pPr>
            <a:r>
              <a:t>The dashboard brings the main CRM functions together so the user can quickly move from overview to action.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999" y="304812"/>
            <a:ext cx="10524067" cy="5911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8417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320040"/>
            <a:ext cx="10332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defRPr sz="2800" b="1">
                <a:solidFill>
                  <a:srgbClr val="232B37"/>
                </a:solidFill>
                <a:latin typeface="Aptos"/>
              </a:defRPr>
            </a:pPr>
            <a:r>
              <a:rPr dirty="0"/>
              <a:t>Data &amp; CSV Export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841248"/>
            <a:ext cx="10241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defRPr sz="1200" b="0">
                <a:solidFill>
                  <a:srgbClr val="697482"/>
                </a:solidFill>
                <a:latin typeface="Aptos"/>
              </a:defRPr>
            </a:pPr>
            <a:r>
              <a:rPr dirty="0"/>
              <a:t>Simple persistence and practical data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D5FAA"/>
                </a:solidFill>
                <a:latin typeface="Aptos"/>
              </a:defRPr>
            </a:pPr>
            <a:r>
              <a:t>SQLite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32B37"/>
                </a:solidFill>
                <a:latin typeface="Aptos"/>
              </a:defRPr>
            </a:pPr>
            <a:r>
              <a:t>Stores application records locally and provides persistent data between sessions.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173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D5FAA"/>
                </a:solidFill>
                <a:latin typeface="Aptos"/>
              </a:defRPr>
            </a:pPr>
            <a:r>
              <a:t>CSV EXPORT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32B37"/>
                </a:solidFill>
                <a:latin typeface="Aptos"/>
              </a:defRPr>
            </a:pPr>
            <a:r>
              <a:t>CRM data can be exported for reporting, offline analysis or sharing.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657600"/>
            <a:ext cx="9966960" cy="777240"/>
          </a:xfrm>
          <a:prstGeom prst="rect">
            <a:avLst/>
          </a:prstGeom>
          <a:solidFill>
            <a:srgbClr val="EEF4FA"/>
          </a:solidFill>
          <a:ln>
            <a:solidFill>
              <a:srgbClr val="EE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3886200"/>
            <a:ext cx="9326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32B37"/>
                </a:solidFill>
                <a:latin typeface="Aptos"/>
              </a:defRPr>
            </a:pPr>
            <a:r>
              <a:t>CRM DATA  →  EXPORT  →  CSV FILE  →  EXCEL / ANALYSIS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603" y="406416"/>
            <a:ext cx="10709997" cy="5938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2402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8"/>
          </a:solidFill>
          <a:ln>
            <a:solidFill>
              <a:srgbClr val="101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320040"/>
            <a:ext cx="10332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defRPr sz="2800" b="1">
                <a:solidFill>
                  <a:srgbClr val="F8FAFC"/>
                </a:solidFill>
                <a:latin typeface="Aptos"/>
              </a:defRPr>
            </a:pPr>
            <a:r>
              <a:rPr dirty="0"/>
              <a:t>Project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841248"/>
            <a:ext cx="10241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defRPr sz="1200" b="0">
                <a:solidFill>
                  <a:srgbClr val="B9C3CF"/>
                </a:solidFill>
                <a:latin typeface="Aptos"/>
              </a:defRPr>
            </a:pPr>
            <a:r>
              <a:rPr dirty="0"/>
              <a:t>From login to CRM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FAAB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8FAFC"/>
                </a:solidFill>
                <a:latin typeface="Aptos"/>
              </a:defRPr>
            </a:pPr>
            <a:r>
              <a:t>Open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12848" y="22860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3FAA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2032" y="182880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FAAB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2032" y="233172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8FAFC"/>
                </a:solidFill>
                <a:latin typeface="Aptos"/>
              </a:defRPr>
            </a:pPr>
            <a:r>
              <a:t>Sign Up / Login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2860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3FAA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182880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FAAB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4" y="233172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8FAFC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16752" y="22860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3FAA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182880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FAAB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233172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8FAFC"/>
                </a:solidFill>
                <a:latin typeface="Aptos"/>
              </a:defRPr>
            </a:pPr>
            <a:r>
              <a:t>Customers / Leads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18704" y="22860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3FAA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182880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FAAB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33172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8FAFC"/>
                </a:solidFill>
                <a:latin typeface="Aptos"/>
              </a:defRPr>
            </a:pPr>
            <a:r>
              <a:t>Interactions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0656" y="22860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3FAA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40" y="182880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FAABE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0" y="233172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8FAFC"/>
                </a:solidFill>
                <a:latin typeface="Aptos"/>
              </a:defRPr>
            </a:pPr>
            <a:r>
              <a:t>Export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572000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ECDDC"/>
                </a:solidFill>
                <a:latin typeface="Aptos"/>
              </a:defRPr>
            </a:pPr>
            <a:r>
              <a:t>The workflow is designed to keep common CRM actions simple and connected.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320040"/>
            <a:ext cx="10332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defRPr sz="2800" b="1">
                <a:solidFill>
                  <a:srgbClr val="232B37"/>
                </a:solidFill>
                <a:latin typeface="Aptos"/>
              </a:defRPr>
            </a:pPr>
            <a:r>
              <a:rPr dirty="0"/>
              <a:t>Testing &amp;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841248"/>
            <a:ext cx="10241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defRPr sz="1200" b="0">
                <a:solidFill>
                  <a:srgbClr val="697482"/>
                </a:solidFill>
                <a:latin typeface="Aptos"/>
              </a:defRPr>
            </a:pPr>
            <a:r>
              <a:rPr dirty="0"/>
              <a:t>Checks to perform before submission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9875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32B37"/>
                </a:solidFill>
                <a:latin typeface="Aptos"/>
              </a:defRPr>
            </a:pPr>
            <a:r>
              <a:t>Verify the Flask application starts without errors.</a:t>
            </a:r>
          </a:p>
          <a:p>
            <a:pPr>
              <a:spcAft>
                <a:spcPts val="900"/>
              </a:spcAft>
              <a:defRPr sz="1800">
                <a:solidFill>
                  <a:srgbClr val="232B37"/>
                </a:solidFill>
                <a:latin typeface="Aptos"/>
              </a:defRPr>
            </a:pPr>
            <a:r>
              <a:t>Test Sign Up and Login with valid and invalid input.</a:t>
            </a:r>
          </a:p>
          <a:p>
            <a:pPr>
              <a:spcAft>
                <a:spcPts val="900"/>
              </a:spcAft>
              <a:defRPr sz="1800">
                <a:solidFill>
                  <a:srgbClr val="232B37"/>
                </a:solidFill>
                <a:latin typeface="Aptos"/>
              </a:defRPr>
            </a:pPr>
            <a:r>
              <a:t>Create, view, update and delete customer records.</a:t>
            </a:r>
          </a:p>
          <a:p>
            <a:pPr>
              <a:spcAft>
                <a:spcPts val="900"/>
              </a:spcAft>
              <a:defRPr sz="1800">
                <a:solidFill>
                  <a:srgbClr val="232B37"/>
                </a:solidFill>
                <a:latin typeface="Aptos"/>
              </a:defRPr>
            </a:pPr>
            <a:r>
              <a:t>Create leads and verify status changes.</a:t>
            </a:r>
          </a:p>
          <a:p>
            <a:pPr>
              <a:spcAft>
                <a:spcPts val="900"/>
              </a:spcAft>
              <a:defRPr sz="1800">
                <a:solidFill>
                  <a:srgbClr val="232B37"/>
                </a:solidFill>
                <a:latin typeface="Aptos"/>
              </a:defRPr>
            </a:pPr>
            <a:r>
              <a:t>Record and review customer/lead interactions.</a:t>
            </a:r>
          </a:p>
          <a:p>
            <a:pPr>
              <a:spcAft>
                <a:spcPts val="900"/>
              </a:spcAft>
              <a:defRPr sz="1800">
                <a:solidFill>
                  <a:srgbClr val="232B37"/>
                </a:solidFill>
                <a:latin typeface="Aptos"/>
              </a:defRPr>
            </a:pPr>
            <a:r>
              <a:t>Verify dashboard information updates from stored data.</a:t>
            </a:r>
          </a:p>
          <a:p>
            <a:pPr>
              <a:spcAft>
                <a:spcPts val="900"/>
              </a:spcAft>
              <a:defRPr sz="1800">
                <a:solidFill>
                  <a:srgbClr val="232B37"/>
                </a:solidFill>
                <a:latin typeface="Aptos"/>
              </a:defRPr>
            </a:pPr>
            <a:r>
              <a:t>Test CSV export and confirm the downloaded file opens correctly.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8"/>
          </a:solidFill>
          <a:ln>
            <a:solidFill>
              <a:srgbClr val="101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320040"/>
            <a:ext cx="10332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defRPr sz="2800" b="1">
                <a:solidFill>
                  <a:srgbClr val="F8FAFC"/>
                </a:solidFill>
                <a:latin typeface="Aptos"/>
              </a:defRPr>
            </a:pPr>
            <a:r>
              <a:rPr dirty="0"/>
              <a:t>Skills Demonstrated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841248"/>
            <a:ext cx="10241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defRPr sz="1200" b="0">
                <a:solidFill>
                  <a:srgbClr val="B9C3CF"/>
                </a:solidFill>
                <a:latin typeface="Aptos"/>
              </a:defRPr>
            </a:pPr>
            <a:r>
              <a:rPr dirty="0"/>
              <a:t>Learning outcomes from the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FAABE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56232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HTML structure, CSS styling and JavaScript behavior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4173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FAABE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856232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Python Flask routing, requests and application logic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FAABE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364992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SQLite storage and CRUD operations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926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FAABE"/>
                </a:solidFill>
                <a:latin typeface="Aptos"/>
              </a:defRPr>
            </a:pPr>
            <a:r>
              <a:t>Web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364992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Frontend-to-backend communication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4348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FAABE"/>
                </a:solidFill>
                <a:latin typeface="Aptos"/>
              </a:defRPr>
            </a:pPr>
            <a:r>
              <a:t>CRM Concepts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73752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Customers, leads, statuses and interactions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4348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FAABE"/>
                </a:solidFill>
                <a:latin typeface="Aptos"/>
              </a:defRPr>
            </a:pPr>
            <a:r>
              <a:t>Data Handling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873752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CSV export and practical reporting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320040"/>
            <a:ext cx="10332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defRPr sz="2800" b="1">
                <a:solidFill>
                  <a:srgbClr val="232B37"/>
                </a:solidFill>
                <a:latin typeface="Aptos"/>
              </a:defRPr>
            </a:pPr>
            <a:r>
              <a:rPr dirty="0"/>
              <a:t>Project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841248"/>
            <a:ext cx="10241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defRPr sz="1200" b="0">
                <a:solidFill>
                  <a:srgbClr val="697482"/>
                </a:solidFill>
                <a:latin typeface="Aptos"/>
              </a:defRPr>
            </a:pPr>
            <a:r>
              <a:rPr dirty="0"/>
              <a:t>Suggested organization for the CRM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D5FAA"/>
                </a:solidFill>
                <a:latin typeface="Aptos"/>
              </a:defRPr>
            </a:pPr>
            <a:r>
              <a:t>CRMProject/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57400"/>
            <a:ext cx="5212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32B37"/>
                </a:solidFill>
                <a:latin typeface="Aptos"/>
              </a:defRPr>
            </a:pPr>
            <a:r>
              <a:t>├── backend/</a:t>
            </a:r>
            <a:br/>
            <a:r>
              <a:t>│   ├── app.py</a:t>
            </a:r>
            <a:br/>
            <a:r>
              <a:t>│   ├── database / SQLite files</a:t>
            </a:r>
            <a:br/>
            <a:r>
              <a:t>│   └── requirements.txt</a:t>
            </a:r>
            <a:br/>
            <a:r>
              <a:t>└── frontend/</a:t>
            </a:r>
            <a:br/>
            <a:r>
              <a:t>    ├── index.html</a:t>
            </a:r>
            <a:br/>
            <a:r>
              <a:t>    ├── app.js</a:t>
            </a:r>
            <a:br/>
            <a:r>
              <a:t>    └── style.css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023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32B37"/>
                </a:solidFill>
                <a:latin typeface="Aptos"/>
              </a:defRPr>
            </a:pPr>
            <a:r>
              <a:t>Separation of frontend and backend keeps the project easier to run, test and maintain.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3749039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97482"/>
                </a:solidFill>
                <a:latin typeface="Aptos"/>
              </a:defRPr>
            </a:pPr>
            <a:r>
              <a:t>Note: use the actual filenames from your submitted project if they differ.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8"/>
          </a:solidFill>
          <a:ln>
            <a:solidFill>
              <a:srgbClr val="101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320040"/>
            <a:ext cx="10332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defRPr sz="2800" b="1">
                <a:solidFill>
                  <a:srgbClr val="F8FAFC"/>
                </a:solidFill>
                <a:latin typeface="Aptos"/>
              </a:defRPr>
            </a:pPr>
            <a:r>
              <a:rPr dirty="0"/>
              <a:t>Future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841248"/>
            <a:ext cx="10241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defRPr sz="1200" b="0">
                <a:solidFill>
                  <a:srgbClr val="B9C3CF"/>
                </a:solidFill>
                <a:latin typeface="Aptos"/>
              </a:defRPr>
            </a:pPr>
            <a:r>
              <a:rPr dirty="0"/>
              <a:t>Possible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9692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Role-based access for administrators and regular users.</a:t>
            </a:r>
          </a:p>
          <a:p>
            <a:pPr>
              <a:spcAft>
                <a:spcPts val="12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Advanced search, filtering and pagination.</a:t>
            </a:r>
          </a:p>
          <a:p>
            <a:pPr>
              <a:spcAft>
                <a:spcPts val="12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Email notifications for lead follow-up.</a:t>
            </a:r>
          </a:p>
          <a:p>
            <a:pPr>
              <a:spcAft>
                <a:spcPts val="12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Charts and richer CRM analytics.</a:t>
            </a:r>
          </a:p>
          <a:p>
            <a:pPr>
              <a:spcAft>
                <a:spcPts val="12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Cloud database and deployment.</a:t>
            </a:r>
          </a:p>
          <a:p>
            <a:pPr>
              <a:spcAft>
                <a:spcPts val="1200"/>
              </a:spcAft>
              <a:defRPr sz="2000">
                <a:solidFill>
                  <a:srgbClr val="F8FAFC"/>
                </a:solidFill>
                <a:latin typeface="Aptos"/>
              </a:defRPr>
            </a:pPr>
            <a:r>
              <a:t>Improved authentication and security controls.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5401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437467" y="1005840"/>
            <a:ext cx="66378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3">
              <a:defRPr sz="1400" b="1">
                <a:solidFill>
                  <a:srgbClr val="2D5FAA"/>
                </a:solidFill>
                <a:latin typeface="Aptos"/>
              </a:defRPr>
            </a:pPr>
            <a:r>
              <a:rPr sz="2400" dirty="0"/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10271"/>
            <a:ext cx="795527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232B37"/>
                </a:solidFill>
                <a:latin typeface="Aptos"/>
              </a:defRPr>
            </a:pPr>
            <a:r>
              <a:rPr lang="en-US" sz="3200" b="1" dirty="0"/>
              <a:t>A Simple and Effective </a:t>
            </a:r>
            <a:r>
              <a:rPr lang="en-US" sz="3200" b="1" dirty="0" smtClean="0"/>
              <a:t>CRM Workflow</a:t>
            </a:r>
            <a:endParaRPr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822960" y="2885433"/>
            <a:ext cx="8595360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697482"/>
                </a:solidFill>
                <a:latin typeface="Aptos"/>
              </a:defRPr>
            </a:pPr>
            <a:r>
              <a:rPr lang="en-US" sz="1900" dirty="0"/>
              <a:t>The project connects the frontend, Flask backend, and SQLite database to provide a complete workflow for managing customers, leads, interactions, and </a:t>
            </a:r>
            <a:r>
              <a:rPr lang="en-US" sz="1900" dirty="0" smtClean="0"/>
              <a:t>reports.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822960" y="4978389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5FAA"/>
                </a:solidFill>
                <a:latin typeface="Aptos"/>
              </a:defRPr>
            </a:pPr>
            <a:r>
              <a:rPr dirty="0" smtClean="0"/>
              <a:t>THANK YOU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735</Words>
  <Application>Microsoft Office PowerPoint</Application>
  <PresentationFormat>Custom</PresentationFormat>
  <Paragraphs>190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dc:description>generated using python-pptx</dc:description>
  <cp:lastModifiedBy>LENOVO</cp:lastModifiedBy>
  <cp:revision>4</cp:revision>
  <dcterms:created xsi:type="dcterms:W3CDTF">2013-01-27T09:14:16Z</dcterms:created>
  <dcterms:modified xsi:type="dcterms:W3CDTF">2026-09-18T17:54:31Z</dcterms:modified>
</cp:coreProperties>
</file>